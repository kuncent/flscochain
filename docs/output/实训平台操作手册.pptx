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1463040"/>
            <a:ext cx="1097280" cy="1097280"/>
          </a:xfrm>
          <a:prstGeom prst="hexagon">
            <a:avLst/>
          </a:prstGeom>
          <a:solidFill>
            <a:srgbClr val="00E6C3">
              <a:alpha val="12000"/>
            </a:srgbClr>
          </a:solidFill>
          <a:ln w="19050">
            <a:solidFill>
              <a:srgbClr val="00E6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操作手册 · Operation Manual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3977640"/>
            <a:ext cx="2194560" cy="18288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· 2026年8月 · 天择教育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5029200"/>
            <a:ext cx="726948" cy="182880"/>
          </a:xfrm>
          <a:prstGeom prst="roundRect">
            <a:avLst>
              <a:gd name="adj" fmla="val 15000"/>
            </a:avLst>
          </a:prstGeom>
          <a:solidFill>
            <a:srgbClr val="00E6C3">
              <a:alpha val="15000"/>
            </a:srgbClr>
          </a:solidFill>
          <a:ln w="6350">
            <a:solidFill>
              <a:srgbClr val="00E6C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5029200"/>
            <a:ext cx="7269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10步搭链教程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0"/>
            <a:ext cx="726948" cy="182880"/>
          </a:xfrm>
          <a:prstGeom prst="roundRect">
            <a:avLst>
              <a:gd name="adj" fmla="val 15000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5029200"/>
            <a:ext cx="7269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6角色业务闭环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5029200"/>
            <a:ext cx="649224" cy="182880"/>
          </a:xfrm>
          <a:prstGeom prst="roundRect">
            <a:avLst>
              <a:gd name="adj" fmla="val 15000"/>
            </a:avLst>
          </a:prstGeom>
          <a:solidFill>
            <a:srgbClr val="F5379B">
              <a:alpha val="15000"/>
            </a:srgbClr>
          </a:solidFill>
          <a:ln w="6350">
            <a:solidFill>
              <a:srgbClr val="F5379B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5029200"/>
            <a:ext cx="649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37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4维成绩评估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 of Contents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097280"/>
            <a:ext cx="73152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417320" y="1353312"/>
            <a:ext cx="320040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10789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平台概览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4520" y="13898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入口登录 · 系统架构 · 功能模块 · 角色体系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1143000"/>
            <a:ext cx="649224" cy="182880"/>
          </a:xfrm>
          <a:prstGeom prst="roundRect">
            <a:avLst>
              <a:gd name="adj" fmla="val 15000"/>
            </a:avLst>
          </a:prstGeom>
          <a:solidFill>
            <a:srgbClr val="00E6C3">
              <a:alpha val="15000"/>
            </a:srgbClr>
          </a:solidFill>
          <a:ln w="6350">
            <a:solidFill>
              <a:srgbClr val="00E6C3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143000"/>
            <a:ext cx="649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P03-07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377440"/>
            <a:ext cx="73152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417320" y="2633472"/>
            <a:ext cx="320040" cy="18288"/>
          </a:xfrm>
          <a:prstGeom prst="rect">
            <a:avLst/>
          </a:prstGeom>
          <a:solidFill>
            <a:srgbClr val="4D8DFF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2359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10步搭链教程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74520" y="26700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链底层 → 联盟接入 → 合约部署 → 链路验证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0" y="2423160"/>
            <a:ext cx="649224" cy="182880"/>
          </a:xfrm>
          <a:prstGeom prst="roundRect">
            <a:avLst>
              <a:gd name="adj" fmla="val 15000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423160"/>
            <a:ext cx="649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P08-19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73152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417320" y="3913632"/>
            <a:ext cx="320040" cy="18288"/>
          </a:xfrm>
          <a:prstGeom prst="rect">
            <a:avLst/>
          </a:prstGeom>
          <a:solidFill>
            <a:srgbClr val="2DD4BF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74520" y="36393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生态实践与能量经济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74520" y="39502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能量发放 · 资产交易 · 钱包证书 · 区块浏览器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3703320"/>
            <a:ext cx="649224" cy="18288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3703320"/>
            <a:ext cx="649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P20-25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937760"/>
            <a:ext cx="73152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37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417320" y="5193792"/>
            <a:ext cx="320040" cy="18288"/>
          </a:xfrm>
          <a:prstGeom prst="rect">
            <a:avLst/>
          </a:prstGeom>
          <a:solidFill>
            <a:srgbClr val="F5379B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74520" y="49194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成绩与报告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874520" y="52303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4维评分体系 · 实训报告 · 等级划分 · 常见问题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32320" y="4983480"/>
            <a:ext cx="649224" cy="182880"/>
          </a:xfrm>
          <a:prstGeom prst="roundRect">
            <a:avLst>
              <a:gd name="adj" fmla="val 15000"/>
            </a:avLst>
          </a:prstGeom>
          <a:solidFill>
            <a:srgbClr val="F5379B">
              <a:alpha val="15000"/>
            </a:srgbClr>
          </a:solidFill>
          <a:ln w="6350">
            <a:solidFill>
              <a:srgbClr val="F5379B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4983480"/>
            <a:ext cx="649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37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P26-28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平台入口 · 登录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Platform Entry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0241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1005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登录方式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19856" y="1033272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00E6C3">
              <a:alpha val="15000"/>
            </a:srgbClr>
          </a:solidFill>
          <a:ln w="6350">
            <a:solidFill>
              <a:srgbClr val="00E6C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033272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账号密码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1581912"/>
            <a:ext cx="109728" cy="109728"/>
          </a:xfrm>
          <a:prstGeom prst="ellipse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581912"/>
            <a:ext cx="10972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914400" y="1508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账号密码登录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1783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输入学号/工号与密码，系统经 RSA 加密后转发至 SSO 完成认证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2587752"/>
            <a:ext cx="109728" cy="109728"/>
          </a:xfrm>
          <a:prstGeom prst="ellipse">
            <a:avLst/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587752"/>
            <a:ext cx="10972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914400" y="2514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单点登录会话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788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登录态写入 localStorage，刷新自动恢复，无需重复输入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3593592"/>
            <a:ext cx="109728" cy="10972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93592"/>
            <a:ext cx="10972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914400" y="35204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角色自动识别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7947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roleId: 1=管理员 3=教师 4=学生，登录后回填 roleName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" y="4599432"/>
            <a:ext cx="109728" cy="109728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99432"/>
            <a:ext cx="10972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914400" y="45262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默认钱包绑定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8006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学生首次登录写入 0xlearner 钱包，后续不覆盖真实绑定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89120" y="914400"/>
            <a:ext cx="4297680" cy="5029200"/>
          </a:xfrm>
          <a:prstGeom prst="roundRect">
            <a:avLst>
              <a:gd name="adj" fmla="val 1702"/>
            </a:avLst>
          </a:prstGeom>
          <a:solidFill>
            <a:srgbClr val="0E1424"/>
          </a:solidFill>
          <a:ln w="9525">
            <a:solidFill>
              <a:srgbClr val="00E6C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914400"/>
            <a:ext cx="429768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996696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996696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0016" y="99669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950976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localhost:5173/#/login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119872" y="960120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19872" y="96012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89120" y="1152144"/>
            <a:ext cx="4297680" cy="4791456"/>
          </a:xfrm>
          <a:prstGeom prst="rect">
            <a:avLst/>
          </a:prstGeom>
          <a:solidFill>
            <a:srgbClr val="070B1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1" name="Image 0" descr="E:\chain\docs\assets\screenshots\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1152144"/>
            <a:ext cx="4297680" cy="4791456"/>
          </a:xfrm>
          <a:prstGeom prst="ellipse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4389120" y="5989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登录页：区块节点星球动画 + 链网状态面板 + 底部区块浏览器滚动条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0E6C3">
              <a:alpha val="20000"/>
            </a:srgbClr>
          </a:solidFill>
          <a:ln w="12700">
            <a:solidFill>
              <a:srgbClr val="00E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05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10058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00E6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0058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118872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响应式框架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11880" y="10058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00E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0058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118872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类型安全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303520" y="10058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00E6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0058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118872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UI组件库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995160" y="10058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00E6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0058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18872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42416" y="1417320"/>
            <a:ext cx="18288" cy="33832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969264" y="1737360"/>
            <a:ext cx="164592" cy="91440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1752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4D8DFF">
              <a:alpha val="20000"/>
            </a:srgbClr>
          </a:solidFill>
          <a:ln w="12700">
            <a:solidFill>
              <a:srgbClr val="4D8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0240" y="30175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301752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32004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异步API框架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611880" y="30175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01752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11880" y="32004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业务数据存储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303520" y="30175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301752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SDK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2004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链交互SDK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995160" y="301752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301752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95160" y="32004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实时通信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042416" y="3429000"/>
            <a:ext cx="18288" cy="33832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400000">
            <a:off x="969264" y="3749040"/>
            <a:ext cx="164592" cy="91440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50292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5379B">
              <a:alpha val="20000"/>
            </a:srgbClr>
          </a:solidFill>
          <a:ln w="12700">
            <a:solidFill>
              <a:srgbClr val="F5379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029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920240" y="50292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F5379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20240" y="50292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FISCO-BCOS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920240" y="52120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联盟链引擎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611880" y="50292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F537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11880" y="50292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4节点PBFT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11880" y="52120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共识网络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303520" y="50292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F5379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0" y="50292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Solidity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03520" y="52120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智能合约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995160" y="502920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31B2E"/>
          </a:solidFill>
          <a:ln w="9525">
            <a:solidFill>
              <a:srgbClr val="F5379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95160" y="50292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95160" y="52120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链管理工具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57200" y="59436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00E6C3">
              <a:alpha val="10000"/>
            </a:srgbClr>
          </a:solidFill>
          <a:ln w="6350">
            <a:solidFill>
              <a:srgbClr val="00E6C3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5943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数据流向：用户操作 → 前端请求 → 后端API → 区块链交易 → 状态同步回前端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总览数据看板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4D8DFF">
              <a:alpha val="12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86868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登录后首页即总览看板：聚合链状态、块高、TPS、节点数、合约部署进度等核心指标，15秒轮询刷新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6035040" cy="4937760"/>
          </a:xfrm>
          <a:prstGeom prst="roundRect">
            <a:avLst>
              <a:gd name="adj" fmla="val 1481"/>
            </a:avLst>
          </a:prstGeom>
          <a:solidFill>
            <a:srgbClr val="0E1424"/>
          </a:solidFill>
          <a:ln w="9525">
            <a:solidFill>
              <a:srgbClr val="00E6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371600"/>
            <a:ext cx="603504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453896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1453896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145389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1408176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localhost:5173/#/dashboard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925312" y="1417320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141732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1609344"/>
            <a:ext cx="6035040" cy="4700016"/>
          </a:xfrm>
          <a:prstGeom prst="rect">
            <a:avLst/>
          </a:prstGeom>
          <a:solidFill>
            <a:srgbClr val="070B1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0" descr="E:\chain\docs\assets\screenshots\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9344"/>
            <a:ext cx="6035040" cy="4700016"/>
          </a:xfrm>
          <a:prstGeom prst="ellipse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675120" y="1371600"/>
            <a:ext cx="2011680" cy="4937760"/>
          </a:xfrm>
          <a:prstGeom prst="roundRect">
            <a:avLst>
              <a:gd name="adj" fmla="val 3636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12280" y="14813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22008" y="14630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看板要点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156448" y="149047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00E6C3">
              <a:alpha val="15000"/>
            </a:srgbClr>
          </a:solidFill>
          <a:ln w="6350">
            <a:solidFill>
              <a:srgbClr val="00E6C3">
                <a:alpha val="4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56448" y="149047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6项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858000" y="1920240"/>
            <a:ext cx="91440" cy="91440"/>
          </a:xfrm>
          <a:prstGeom prst="ellipse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0880" y="1874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链模式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040880" y="20939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FISCO/EVM/沙盒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858000" y="2606040"/>
            <a:ext cx="91440" cy="91440"/>
          </a:xfrm>
          <a:prstGeom prst="ellipse">
            <a:avLst/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40880" y="25603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块高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40880" y="27797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实时区块高度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858000" y="3291840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40880" y="32461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040880" y="34655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每秒交易吞吐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858000" y="3977640"/>
            <a:ext cx="91440" cy="9144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40880" y="39319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F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节点数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040880" y="41513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4共识节点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858000" y="4663440"/>
            <a:ext cx="91440" cy="91440"/>
          </a:xfrm>
          <a:prstGeom prst="ellipse">
            <a:avLst/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040880" y="46177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040880" y="48371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部署状态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858000" y="5349240"/>
            <a:ext cx="91440" cy="91440"/>
          </a:xfrm>
          <a:prstGeom prst="ellipse">
            <a:avLst/>
          </a:prstGeom>
          <a:solidFill>
            <a:srgbClr val="13C2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40880" y="5303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C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040880" y="552297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10步完成率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功能模块地图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 Modules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00E6C3">
              <a:alpha val="20000"/>
            </a:srgbClr>
          </a:solidFill>
          <a:ln w="9525">
            <a:solidFill>
              <a:srgbClr val="00E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914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链底层搭建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00E6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44475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508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18105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00E6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40487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68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搭链云桌面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7706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10步教程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91440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4D8DFF">
              <a:alpha val="20000"/>
            </a:srgbClr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914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业务合约开发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13716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7480" y="144475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1508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合约IDE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18105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Monaco编辑器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23317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7480" y="240487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2468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合约管理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97480" y="27706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部署状态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2DD4BF">
              <a:alpha val="20000"/>
            </a:srgbClr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914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联盟治理与运营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3716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44475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508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绿色低碳链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18105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6角色发能量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3317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240487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468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ERC20钱包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7706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代币余额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2918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36499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4290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NFT市场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7307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资产交易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03720" y="91440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F5379B">
              <a:alpha val="20000"/>
            </a:srgbClr>
          </a:solidFill>
          <a:ln w="9525">
            <a:solidFill>
              <a:srgbClr val="F5379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9144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链上验证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03720" y="137160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5379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95160" y="144475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1508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接口调试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95160" y="18105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API测试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03720" y="23317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5379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95160" y="240487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95160" y="2468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调用监听器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95160" y="27706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事件推送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903720" y="32918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5379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95160" y="336499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95160" y="34290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区块链浏览器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95160" y="37307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交易查询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03720" y="425196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5379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95160" y="432511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95160" y="4389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实训报告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995160" y="469087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成绩报告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03720" y="521208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5379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95160" y="5285232"/>
            <a:ext cx="274320" cy="27432"/>
          </a:xfrm>
          <a:prstGeom prst="roundRect">
            <a:avLst>
              <a:gd name="adj" fmla="val 66667"/>
            </a:avLst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95160" y="53492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我的成绩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995160" y="56509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学生查看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角色体系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0241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1005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联盟角色（6个）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44568" y="1033272"/>
            <a:ext cx="758952" cy="201168"/>
          </a:xfrm>
          <a:prstGeom prst="roundRect">
            <a:avLst>
              <a:gd name="adj" fmla="val 18182"/>
            </a:avLst>
          </a:prstGeom>
          <a:solidFill>
            <a:srgbClr val="00E6C3">
              <a:alpha val="15000"/>
            </a:srgbClr>
          </a:solidFill>
          <a:ln w="6350">
            <a:solidFill>
              <a:srgbClr val="00E6C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033272"/>
            <a:ext cx="75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mint白名单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1371600"/>
            <a:ext cx="4754880" cy="274320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3716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54480" y="13716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4600" y="13716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13716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13716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1645920"/>
            <a:ext cx="4754880" cy="384048"/>
          </a:xfrm>
          <a:prstGeom prst="rect">
            <a:avLst/>
          </a:prstGeom>
          <a:solidFill>
            <a:srgbClr val="131B2E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645920"/>
            <a:ext cx="36576" cy="384048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16459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16459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0xadmin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14600" y="16459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管理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16459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全局控制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16459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2029968"/>
            <a:ext cx="4754880" cy="384048"/>
          </a:xfrm>
          <a:prstGeom prst="rect">
            <a:avLst/>
          </a:prstGeom>
          <a:solidFill>
            <a:srgbClr val="1A2440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2029968"/>
            <a:ext cx="36576" cy="384048"/>
          </a:xfrm>
          <a:prstGeom prst="rect">
            <a:avLst/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0299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54480" y="202996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0xmetro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14600" y="202996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202996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距离≥10km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34840" y="20299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" y="2414016"/>
            <a:ext cx="4754880" cy="384048"/>
          </a:xfrm>
          <a:prstGeom prst="rect">
            <a:avLst/>
          </a:prstGeom>
          <a:solidFill>
            <a:srgbClr val="131B2E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2414016"/>
            <a:ext cx="36576" cy="384048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24140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公交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54480" y="241401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0xbus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514600" y="241401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74720" y="2414016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运营≥5min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34840" y="24140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" y="2798064"/>
            <a:ext cx="4754880" cy="384048"/>
          </a:xfrm>
          <a:prstGeom prst="rect">
            <a:avLst/>
          </a:prstGeom>
          <a:solidFill>
            <a:srgbClr val="1A2440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" y="2798064"/>
            <a:ext cx="36576" cy="384048"/>
          </a:xfrm>
          <a:prstGeom prst="rect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279806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CF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共享单车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554480" y="279806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0xbike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514600" y="279806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474720" y="279806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骑行≥3min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434840" y="279806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4360" y="3182112"/>
            <a:ext cx="4754880" cy="384048"/>
          </a:xfrm>
          <a:prstGeom prst="rect">
            <a:avLst/>
          </a:prstGeom>
          <a:solidFill>
            <a:srgbClr val="131B2E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3182112"/>
            <a:ext cx="36576" cy="384048"/>
          </a:xfrm>
          <a:prstGeom prst="rect">
            <a:avLst/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318211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外卖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554480" y="318211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0xtakeout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514600" y="318211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74720" y="3182112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无需餐具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434840" y="318211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" y="3566160"/>
            <a:ext cx="4754880" cy="384048"/>
          </a:xfrm>
          <a:prstGeom prst="rect">
            <a:avLst/>
          </a:prstGeom>
          <a:solidFill>
            <a:srgbClr val="1A2440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360" y="3566160"/>
            <a:ext cx="36576" cy="384048"/>
          </a:xfrm>
          <a:prstGeom prst="rect">
            <a:avLst/>
          </a:prstGeom>
          <a:solidFill>
            <a:srgbClr val="13C2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3566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C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554480" y="35661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0xrecycle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514600" y="35661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474720" y="356616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重量≥1kg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434840" y="3566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node2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760720" y="914400"/>
            <a:ext cx="2926080" cy="5029200"/>
          </a:xfrm>
          <a:prstGeom prst="roundRect">
            <a:avLst>
              <a:gd name="adj" fmla="val 2500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97880" y="10241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007608" y="10058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用户角色（4个）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156448" y="103327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56448" y="103327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权限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897880" y="146304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00E6C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89320" y="1554480"/>
            <a:ext cx="274320" cy="36576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89320" y="1627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949440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0xlearner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98932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完成实训、查看成绩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897880" y="24688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89320" y="2560320"/>
            <a:ext cx="274320" cy="36576"/>
          </a:xfrm>
          <a:prstGeom prst="roundRect">
            <a:avLst>
              <a:gd name="adj" fmla="val 50000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89320" y="2633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94944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0xteacher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98932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管理学生、评价成绩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897880" y="34747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8E9CB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989320" y="3566160"/>
            <a:ext cx="274320" cy="36576"/>
          </a:xfrm>
          <a:prstGeom prst="roundRect">
            <a:avLst>
              <a:gd name="adj" fmla="val 50000"/>
            </a:avLst>
          </a:prstGeom>
          <a:solidFill>
            <a:srgbClr val="8E9C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89320" y="3639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访客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949440" y="36576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0xguest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989320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浏览平台、查看演示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897880" y="44805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5379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989320" y="4572000"/>
            <a:ext cx="274320" cy="36576"/>
          </a:xfrm>
          <a:prstGeom prst="roundRect">
            <a:avLst>
              <a:gd name="adj" fmla="val 50000"/>
            </a:avLst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89320" y="46451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超管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6949440" y="46634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0xsuperadmin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989320" y="4937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系统配置、全局管理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457200" y="6126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联盟角色 0-5 对应私钥，用户角色 6-9 对应私钥，显式 1:1 绑定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10步搭链教程 · 总览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Tutorial 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4572000" cy="5029200"/>
          </a:xfrm>
          <a:prstGeom prst="roundRect">
            <a:avLst>
              <a:gd name="adj" fmla="val 1600"/>
            </a:avLst>
          </a:prstGeom>
          <a:solidFill>
            <a:srgbClr val="0E1424"/>
          </a:solidFill>
          <a:ln w="9525">
            <a:solidFill>
              <a:srgbClr val="00E6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914400"/>
            <a:ext cx="457200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996696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996696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99669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5097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localhost:5173/#/cloud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462272" y="960120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96012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152144"/>
            <a:ext cx="4572000" cy="4791456"/>
          </a:xfrm>
          <a:prstGeom prst="rect">
            <a:avLst/>
          </a:prstGeom>
          <a:solidFill>
            <a:srgbClr val="070B1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0" descr="E:\chain\docs\assets\screenshots\clou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52144"/>
            <a:ext cx="4572000" cy="4791456"/>
          </a:xfrm>
          <a:prstGeom prst="ellipse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5989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搭链云桌面：左侧 10 步导航 + 总进度环，右侧终端实时输出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212080" y="914400"/>
            <a:ext cx="3474720" cy="502920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49240" y="10241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58968" y="10058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四阶段流程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91856" y="1033272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91856" y="1033272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严格顺序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349240" y="14630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31B2E"/>
          </a:solidFill>
          <a:ln w="6350">
            <a:solidFill>
              <a:srgbClr val="00E6C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40680" y="1536192"/>
            <a:ext cx="731520" cy="27432"/>
          </a:xfrm>
          <a:prstGeom prst="roundRect">
            <a:avLst>
              <a:gd name="adj" fmla="val 66667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40680" y="16002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链底层搭建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269480" y="1600200"/>
            <a:ext cx="11887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1-4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4068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生成配置 · 构建证书 · 启动节点 · 接入控制台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940296" y="2331720"/>
            <a:ext cx="18288" cy="10972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rot="5400000">
            <a:off x="6867144" y="2423160"/>
            <a:ext cx="164592" cy="91440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349240" y="251460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40680" y="2587752"/>
            <a:ext cx="731520" cy="27432"/>
          </a:xfrm>
          <a:prstGeom prst="roundRect">
            <a:avLst>
              <a:gd name="adj" fmla="val 66667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40680" y="2651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联盟组织接入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269480" y="2651760"/>
            <a:ext cx="11887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5-8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40680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证书核查 · 治理规则 · 钱包注册 · 健康检查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940296" y="3383280"/>
            <a:ext cx="18288" cy="10972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rot="5400000">
            <a:off x="6867144" y="3474720"/>
            <a:ext cx="164592" cy="91440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349240" y="35661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31B2E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440680" y="3639312"/>
            <a:ext cx="731520" cy="27432"/>
          </a:xfrm>
          <a:prstGeom prst="roundRect">
            <a:avLst>
              <a:gd name="adj" fmla="val 66667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40680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合约部署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269480" y="3703320"/>
            <a:ext cx="11887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9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44068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 GreenEnergy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940296" y="4434840"/>
            <a:ext cx="18288" cy="10972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5400000">
            <a:off x="6867144" y="4526280"/>
            <a:ext cx="164592" cy="91440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349240" y="46177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31B2E"/>
          </a:solidFill>
          <a:ln w="6350">
            <a:solidFill>
              <a:srgbClr val="F5379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40680" y="4690872"/>
            <a:ext cx="731520" cy="27432"/>
          </a:xfrm>
          <a:prstGeom prst="roundRect">
            <a:avLst>
              <a:gd name="adj" fmla="val 66667"/>
            </a:avLst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40680" y="4754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链路验证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7269480" y="4754880"/>
            <a:ext cx="11887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10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5440680" y="5074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5角色发能量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· 生成链配置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搭链教程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00E6C3">
              <a:alpha val="20000"/>
            </a:srgbClr>
          </a:solidFill>
          <a:ln w="19050">
            <a:solidFill>
              <a:srgbClr val="00E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生成链配置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FISCO-BCOS 链配置文件，含4节点PBFT共识配置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411480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148840"/>
            <a:ext cx="36576" cy="2926080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203704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cloud-desktop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2404872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/root/fisco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546604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-LO https://github.com/FISCO-BCOS/build_chain.sh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688336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+x build_chain.sh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830068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build_chain.sh -l "127.0.0.1:4" -p 30300,20200,8545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20640" y="173736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67528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644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2148840"/>
            <a:ext cx="329184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2148840"/>
            <a:ext cx="36576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6752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7725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8698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2203704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394960" y="240487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Downloading build_chain.sh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254660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FISCO-BCOS Path   : bin/fisco-bcos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688336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Start Port       : 30300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2830068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Node Count       : 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2971800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Output Dir       : nodes/127.0.0.1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311353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All completed.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394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545896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" y="5440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56448" y="546811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56448" y="546811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5800" y="5852160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7790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确保已安装 OpenSSL 和 curl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5800" y="6053328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59801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配置文件位于 nodes/127.0.0.1 目录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" y="6254496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6181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4个节点端口：30300-30303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· 构建链证书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搭链教程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00E6C3">
              <a:alpha val="20000"/>
            </a:srgbClr>
          </a:solidFill>
          <a:ln w="19050">
            <a:solidFill>
              <a:srgbClr val="00E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构建链证书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CA 证书、机构证书和节点证书，用于链身份验证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411480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148840"/>
            <a:ext cx="36576" cy="2926080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203704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cloud-desktop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2404872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/root/fisco/nodes/127.0.0.1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546604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generate_cert.sh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688336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 cert/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830068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openssl x509 -in cert/ca.crt -text -noout | head -5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20640" y="173736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67528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644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2148840"/>
            <a:ext cx="329184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2148840"/>
            <a:ext cx="36576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6752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7725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8698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2203704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394960" y="240487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CA certificate generated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254660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Agency certificate generated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688336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Node certificates generated (4 nodes)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2830068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cert/ca.crt  cert/agency.crt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2971800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cert/node0/node.crt  cert/node1/node.crt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311353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Issuer: CN=FISCO-BCOS-CA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394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545896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" y="5440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56448" y="546811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56448" y="546811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5800" y="5852160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7790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证书文件位于 cert/ 目录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5800" y="6053328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59801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SDK证书需复制到控制台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" y="6254496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6181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证书链：CA → 机构 → 节点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· 启动链节点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搭链教程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00E6C3">
              <a:alpha val="20000"/>
            </a:srgbClr>
          </a:solidFill>
          <a:ln w="19050">
            <a:solidFill>
              <a:srgbClr val="00E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启动链节点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4 个联盟链节点，验证节点正常运行和持续出块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411480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148840"/>
            <a:ext cx="36576" cy="2926080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203704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cloud-desktop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2404872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/root/fisco/nodes/127.0.0.1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546604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start_all.sh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688336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-ef | grep fisco-bcos | wc -l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830068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tail -f node0/log/log_INFO | grep "+++"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20640" y="173736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67528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644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2148840"/>
            <a:ext cx="329184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2148840"/>
            <a:ext cx="36576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6752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7725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8698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2203704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394960" y="240487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node0 started successfully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254660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node1 started successfully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688336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node2 started successfully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2830068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node3 started successfully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2971800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(4个进程运行中)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311353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 generating seal on: 1 txs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394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545896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" y="5440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56448" y="546811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56448" y="546811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5800" y="5852160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7790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4个节点全部启动成功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5800" y="6053328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59801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查看日志确认 PBFT 持续出块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" y="6254496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6181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+++ 表示 sealer 开始打包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 · 接入控制台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搭链教程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00E6C3">
              <a:alpha val="20000"/>
            </a:srgbClr>
          </a:solidFill>
          <a:ln w="19050">
            <a:solidFill>
              <a:srgbClr val="00E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接入控制台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SDK 证书并接入区块链控制台，进行链上交互验证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411480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148840"/>
            <a:ext cx="36576" cy="2926080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203704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cloud-desktop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2404872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/root/fisco/console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546604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-r ../nodes/127.0.0.1/sdk_cert ./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688336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start.sh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830068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[group:1]&gt; getBlockNumber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2971800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[group:1]&gt; getSealerList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0" y="173736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5780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5644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644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57800" y="2148840"/>
            <a:ext cx="329184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7800" y="2148840"/>
            <a:ext cx="36576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6752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7725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8698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2203704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394960" y="240487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SDK certificate copied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54660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Console connected to FISCO-BCOS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2688336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to FISCO BCOS console!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2830068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blockNumber = 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2971800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SealerList (4):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94960" y="311353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0x1234...node0  0x5678...node1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394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" y="545896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5440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156448" y="546811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56448" y="546811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" y="5852160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7790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SDK证书必须从节点目录复制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" y="6053328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59801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控制台通过 Channel 协议连接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" y="6254496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" y="6181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运维四件套：块高/Peer/Sealer/Group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 · 组织证书核查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搭链教程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4D8DFF">
              <a:alpha val="20000"/>
            </a:srgbClr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组织证书核查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验证联盟组织的证书有效性，确保节点身份合法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411480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148840"/>
            <a:ext cx="36576" cy="2926080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203704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cloud-desktop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2404872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/root/fisco/nodes/127.0.0.1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546604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for i in 0 1 2 3; do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688336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openssl verify -CAfile cert/ca.crt cert/node$i/node.crt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830068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2971800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cert/node0/node.cnf | grep -A2 "[v3_req]"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20640" y="173736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5780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5644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5644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57800" y="2148840"/>
            <a:ext cx="329184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7800" y="2148840"/>
            <a:ext cx="36576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6752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7725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8698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2203704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394960" y="240487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node0: OK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54660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node1: OK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2688336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node2: OK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2830068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node3: OK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2971800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[v3_req]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94960" y="311353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basicConstraints = CA:FALSE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394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" y="545896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5440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156448" y="546811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56448" y="546811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" y="5852160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7790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检查证书颁发者和主题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" y="6053328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59801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确保证书链完整有效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" y="6254496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" y="6181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4个节点证书全部验证通过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6 · 联盟治理规则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搭链教程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4D8DFF">
              <a:alpha val="20000"/>
            </a:srgbClr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联盟治理规则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6 大联盟角色的治理规则和业务权限映射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411480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148840"/>
            <a:ext cx="36576" cy="2926080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203704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cloud-desktop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2404872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/root/fisco/roles.json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546604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http://localhost:8000/api/eco/roles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688336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http://localhost:8000/api/eco/energy/rules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173736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7528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5644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5644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57800" y="2148840"/>
            <a:ext cx="329184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7800" y="2148840"/>
            <a:ext cx="36576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6752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7725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8698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2203704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94960" y="240487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94960" y="254660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"metro":   { "energy": 50, "proof": "distance&gt;=10km" },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2688336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"bus":     { "energy": 20, "proof": "duration&gt;=5min" },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830068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"bike":    { "energy": 15, "proof": "duration&gt;=3min" },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2971800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"takeout": { "energy": 10, "proof": "no_cutlery=1" },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311353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"recycle": { "energy": 100, "proof": "weight&gt;=1kg" }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325526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394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545896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" y="5440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156448" y="546811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56448" y="546811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5800" y="5852160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7790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每个角色有独立钱包地址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5800" y="6053328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59801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能量发放需满足业务凭证阈值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" y="6254496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6181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管理员不发能量避免利益冲突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7 · 钱包注册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搭链教程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4D8DFF">
              <a:alpha val="20000"/>
            </a:srgbClr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钱包注册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注册用户钱包并与联盟角色建立显式 1:1 私钥绑定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411480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148840"/>
            <a:ext cx="36576" cy="2926080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203704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cloud-desktop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2404872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http://localhost:8000/api/wallet/register \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546604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-H "Content-Type: application/json" \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688336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 '{"wallet":"0xlearner","role":"student"}'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830068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http://localhost:8000/api/eco/wallets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20640" y="173736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67528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644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2148840"/>
            <a:ext cx="329184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2148840"/>
            <a:ext cx="36576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6752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7725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8698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2203704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394960" y="240487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254660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"success": true,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688336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"wallet": "0xlearner",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2830068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"student",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2971800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"balance": 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311353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94960" y="325526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alliance wallets + 4 user wallets registered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394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" y="545896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5440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156448" y="546811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56448" y="546811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" y="5852160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7790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钱包地址必须唯一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" y="6053328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59801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联盟角色 0-5 对应私钥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" y="6254496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" y="6181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 6-9 对应私钥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8 · 健康检查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搭链教程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4D8DFF">
              <a:alpha val="20000"/>
            </a:srgbClr>
          </a:solidFill>
          <a:ln w="19050">
            <a:solidFill>
              <a:srgbClr val="4D8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检查节点状态、合约部署情况，确保系统健康运行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411480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148840"/>
            <a:ext cx="36576" cy="2926080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203704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cloud-desktop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2404872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http://localhost:8000/api/chain/status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546604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http://localhost:8000/api/contracts/status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688336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http://localhost:8000/api/eco/health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173736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7528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5644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5644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57800" y="2148840"/>
            <a:ext cx="329184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7800" y="2148840"/>
            <a:ext cx="36576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6752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7725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8698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2203704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94960" y="240487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"mode": "docker", "engine": "fisco-bcos",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94960" y="254660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"height": 100, "nodes": 4,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2688336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"healthy" }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830068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GreenEnergy: not deployed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2971800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PlantCertificate: not deployed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311353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EcoBadge: not deployed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5394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545896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" y="5440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56448" y="546811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56448" y="546811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" y="5852160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57790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节点高度应持续增长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" y="6053328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9801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所有节点状态应为 healthy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" y="6254496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6181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合约未部署是正常状态（Step 9 部署）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9 · 部署 GreenEnergy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搭链教程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 GreenEnergy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编译并部署 GreenEnergy ERC20 智能合约到联盟链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411480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148840"/>
            <a:ext cx="36576" cy="2926080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203704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cloud-desktop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2404872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/root/fisco/console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546604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[group:1]&gt; deploy GreenEnergy 1000000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688336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http://localhost:8000/api/contracts/deploy \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830068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 '{"name":"GreenEnergy","owner":"0xadmin"}'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20640" y="173736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67528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644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2148840"/>
            <a:ext cx="329184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2148840"/>
            <a:ext cx="36576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6752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7725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8698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2203704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394960" y="240487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address: 0x1234...5678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254660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 hash: 0xabcd...1234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688336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 used: 1500000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2830068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2971800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"success": true,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311353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"address": "0x1234...5678",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94960" y="325526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"deployer": "0xadmin" }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394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" y="545896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5440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156448" y="546811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56448" y="546811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" y="5852160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7790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合约部署者必须是 0xadmin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" y="6053328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59801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记录合约地址用于后续操作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800" y="6254496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" y="6181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GreenEnergy 是 ERC20 标准代币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10 · 链路验证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搭链教程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868680"/>
            <a:ext cx="640080" cy="640080"/>
          </a:xfrm>
          <a:prstGeom prst="ellipse">
            <a:avLst/>
          </a:prstGeom>
          <a:solidFill>
            <a:srgbClr val="F5379B">
              <a:alpha val="20000"/>
            </a:srgbClr>
          </a:solidFill>
          <a:ln w="19050">
            <a:solidFill>
              <a:srgbClr val="F537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868680"/>
            <a:ext cx="6400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37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链路验证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5 个联盟角色完成能量发放的完整链路验证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执行命令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1596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4D8DFF">
              <a:alpha val="15000"/>
            </a:srgbClr>
          </a:solidFill>
          <a:ln w="6350">
            <a:solidFill>
              <a:srgbClr val="4D8D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2148840"/>
            <a:ext cx="411480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148840"/>
            <a:ext cx="36576" cy="2926080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54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203704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cloud-desktop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1520" y="2404872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-X POST http://localhost:8000/api/eco/energy/issue \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2546604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 '{"role":"metro","distance":15,"to":"0xlearner"}'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688336"/>
            <a:ext cx="388620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http://localhost:8000/api/wallet/balance/0xlearner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173736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18470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7528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预期输出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56448" y="18562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56448" y="18562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57800" y="2148840"/>
            <a:ext cx="3291840" cy="2926080"/>
          </a:xfrm>
          <a:prstGeom prst="roundRect">
            <a:avLst>
              <a:gd name="adj" fmla="val 1563"/>
            </a:avLst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7800" y="2148840"/>
            <a:ext cx="36576" cy="2926080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67528" y="2221992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77256" y="2221992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86984" y="2221992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2203704"/>
            <a:ext cx="2743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94960" y="240487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"success": true,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94960" y="2546604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"energy": 50,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2688336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"tx_hash": "0xabcd...1234",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2830068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"proof_no": "metro-001" }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94960" y="2971800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3113532"/>
            <a:ext cx="306324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of 0xlearner: 50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5394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" y="545896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" y="5440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56448" y="546811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56448" y="546811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提示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" y="5852160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57790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5个角色都需要验证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" y="6053328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98017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余额应与发放能量一致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" y="6254496"/>
            <a:ext cx="45720" cy="457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618134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防重复：相同 proof_no 不可重复发放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能量发放规则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 Issuance Rules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0241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1005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6角色能量发放映射表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44968" y="1033272"/>
            <a:ext cx="758952" cy="201168"/>
          </a:xfrm>
          <a:prstGeom prst="roundRect">
            <a:avLst>
              <a:gd name="adj" fmla="val 18182"/>
            </a:avLst>
          </a:prstGeom>
          <a:solidFill>
            <a:srgbClr val="00E6C3">
              <a:alpha val="15000"/>
            </a:srgbClr>
          </a:solidFill>
          <a:ln w="6350">
            <a:solidFill>
              <a:srgbClr val="00E6C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4968" y="1033272"/>
            <a:ext cx="758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mint白名单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1371600"/>
            <a:ext cx="795528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3716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13716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钱包地址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7560" y="1371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业务凭证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06440" y="13716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03720" y="13716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签名者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1664208"/>
            <a:ext cx="7955280" cy="347472"/>
          </a:xfrm>
          <a:prstGeom prst="rect">
            <a:avLst/>
          </a:prstGeom>
          <a:solidFill>
            <a:srgbClr val="131B2E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1664208"/>
            <a:ext cx="36576" cy="347472"/>
          </a:xfrm>
          <a:prstGeom prst="rect">
            <a:avLst/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16642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91640" y="16642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0xmetro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16642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 &gt;= 10km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16642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03720" y="16642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0xmetro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" y="2011680"/>
            <a:ext cx="7955280" cy="347472"/>
          </a:xfrm>
          <a:prstGeom prst="rect">
            <a:avLst/>
          </a:prstGeom>
          <a:solidFill>
            <a:srgbClr val="1A2440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2011680"/>
            <a:ext cx="36576" cy="347472"/>
          </a:xfrm>
          <a:prstGeom prst="rect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91640" y="2011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0xbus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&gt;= 5min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06440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03720" y="2011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4360" y="2359152"/>
            <a:ext cx="7955280" cy="347472"/>
          </a:xfrm>
          <a:prstGeom prst="rect">
            <a:avLst/>
          </a:prstGeom>
          <a:solidFill>
            <a:srgbClr val="131B2E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2359152"/>
            <a:ext cx="36576" cy="347472"/>
          </a:xfrm>
          <a:prstGeom prst="rect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23591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共享单车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91640" y="2359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0xbike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37560" y="23591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&gt;= 3min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06440" y="235915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23591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0xbike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" y="2706624"/>
            <a:ext cx="7955280" cy="347472"/>
          </a:xfrm>
          <a:prstGeom prst="rect">
            <a:avLst/>
          </a:prstGeom>
          <a:solidFill>
            <a:srgbClr val="1A2440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" y="2706624"/>
            <a:ext cx="36576" cy="347472"/>
          </a:xfrm>
          <a:prstGeom prst="rect">
            <a:avLst/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27066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外卖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691640" y="27066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0xtakeout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37560" y="27066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no_cutlery = 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06440" y="27066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03720" y="27066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0xtakeout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94360" y="3054096"/>
            <a:ext cx="7955280" cy="347472"/>
          </a:xfrm>
          <a:prstGeom prst="rect">
            <a:avLst/>
          </a:prstGeom>
          <a:solidFill>
            <a:srgbClr val="131B2E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3054096"/>
            <a:ext cx="36576" cy="347472"/>
          </a:xfrm>
          <a:prstGeom prst="rect">
            <a:avLst/>
          </a:prstGeom>
          <a:solidFill>
            <a:srgbClr val="13C2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30540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C2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691640" y="30540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0xrecycle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37560" y="30540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&gt;= 1kg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806440" y="30540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03720" y="30540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0xrecycle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" y="3401568"/>
            <a:ext cx="7955280" cy="347472"/>
          </a:xfrm>
          <a:prstGeom prst="rect">
            <a:avLst/>
          </a:prstGeom>
          <a:solidFill>
            <a:srgbClr val="1A2440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360" y="3401568"/>
            <a:ext cx="36576" cy="347472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" y="34015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691640" y="34015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0xadmin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337560" y="3401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806440" y="34015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903720" y="34015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438912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4360" y="449884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4088" y="44805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能量发放业务闭环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156448" y="450799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56448" y="450799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5步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31520" y="4937760"/>
            <a:ext cx="320040" cy="320040"/>
          </a:xfrm>
          <a:prstGeom prst="ellipse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4937760"/>
            <a:ext cx="3200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57200" y="5303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联盟角色签名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051560" y="5102352"/>
            <a:ext cx="1207008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40280" y="502920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331720" y="4937760"/>
            <a:ext cx="320040" cy="320040"/>
          </a:xfrm>
          <a:prstGeom prst="ellipse">
            <a:avLst/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331720" y="4937760"/>
            <a:ext cx="3200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057400" y="5303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凭证阈值校验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651760" y="5102352"/>
            <a:ext cx="1207008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840480" y="502920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31920" y="4937760"/>
            <a:ext cx="320040" cy="3200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0" y="4937760"/>
            <a:ext cx="3200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3657600" y="5303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 mint 铸造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251960" y="5102352"/>
            <a:ext cx="1207008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40680" y="502920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32120" y="4937760"/>
            <a:ext cx="320040" cy="32004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32120" y="4937760"/>
            <a:ext cx="3200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5257800" y="5303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防重复记录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5852160" y="5102352"/>
            <a:ext cx="1207008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040880" y="502920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132320" y="4937760"/>
            <a:ext cx="320040" cy="320040"/>
          </a:xfrm>
          <a:prstGeom prst="ellipse">
            <a:avLst/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32320" y="4937760"/>
            <a:ext cx="3200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6858000" y="5303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余额同步更新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57200" y="5852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8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UNIQUE(proof_no, role_key) 索引防止同一业务凭证重复发放能量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能量发放操作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 Issuance Operation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4754880" cy="5029200"/>
          </a:xfrm>
          <a:prstGeom prst="roundRect">
            <a:avLst>
              <a:gd name="adj" fmla="val 1538"/>
            </a:avLst>
          </a:prstGeom>
          <a:solidFill>
            <a:srgbClr val="0E1424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914400"/>
            <a:ext cx="475488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996696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996696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99669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5097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localhost:5173/#/eco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45152" y="960120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96012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152144"/>
            <a:ext cx="4754880" cy="4791456"/>
          </a:xfrm>
          <a:prstGeom prst="rect">
            <a:avLst/>
          </a:prstGeom>
          <a:solidFill>
            <a:srgbClr val="070B1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0" descr="E:\chain\docs\assets\screenshots\ec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52144"/>
            <a:ext cx="4754880" cy="4791456"/>
          </a:xfrm>
          <a:prstGeom prst="ellipse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59893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绿色低碳联盟链：6角色卡片切换 + 能量发放凭证表单（含阈值校验）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94960" y="914400"/>
            <a:ext cx="3291840" cy="5029200"/>
          </a:xfrm>
          <a:prstGeom prst="roundRect">
            <a:avLst>
              <a:gd name="adj" fmla="val 2222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32120" y="10241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41848" y="1005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操作流程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56448" y="103327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00E6C3">
              <a:alpha val="15000"/>
            </a:srgbClr>
          </a:solidFill>
          <a:ln w="6350">
            <a:solidFill>
              <a:srgbClr val="00E6C3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56448" y="103327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5步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577840" y="1463040"/>
            <a:ext cx="274320" cy="274320"/>
          </a:xfrm>
          <a:prstGeom prst="ellipse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77840" y="146304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43600" y="14447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选择联盟角色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43600" y="1664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在生态实践页点击角色卡片切换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705856" y="1755648"/>
            <a:ext cx="18288" cy="4754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rot="5400000">
            <a:off x="5632704" y="2212848"/>
            <a:ext cx="164592" cy="91440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577840" y="2331720"/>
            <a:ext cx="274320" cy="274320"/>
          </a:xfrm>
          <a:prstGeom prst="ellipse">
            <a:avLst/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77840" y="233172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43600" y="23134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填写业务凭证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43600" y="2532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输入符合阈值的业务数据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705856" y="2624328"/>
            <a:ext cx="18288" cy="4754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rot="5400000">
            <a:off x="5632704" y="3081528"/>
            <a:ext cx="164592" cy="91440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77840" y="3200400"/>
            <a:ext cx="274320" cy="2743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77840" y="320040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943600" y="31821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签名确认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943600" y="34015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系统用联盟钱包私钥签名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705856" y="3493008"/>
            <a:ext cx="18288" cy="4754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rot="5400000">
            <a:off x="5632704" y="3950208"/>
            <a:ext cx="164592" cy="91440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577840" y="4069080"/>
            <a:ext cx="274320" cy="27432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577840" y="406908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5943600" y="40507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F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链上铸造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943600" y="42702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GreenEnergy.mint() 上链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705856" y="4361688"/>
            <a:ext cx="18288" cy="4754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rot="5400000">
            <a:off x="5632704" y="4818888"/>
            <a:ext cx="164592" cy="91440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577840" y="4937760"/>
            <a:ext cx="274320" cy="274320"/>
          </a:xfrm>
          <a:prstGeom prst="ellipse">
            <a:avLst/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577840" y="4937760"/>
            <a:ext cx="274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943600" y="491947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记录更新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5943600" y="51389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写入能量记录并更新余额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资产市场交易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 Asset Market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0241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1005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交易流程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1856" y="1033272"/>
            <a:ext cx="512064" cy="201168"/>
          </a:xfrm>
          <a:prstGeom prst="roundRect">
            <a:avLst>
              <a:gd name="adj" fmla="val 18182"/>
            </a:avLst>
          </a:prstGeom>
          <a:solidFill>
            <a:srgbClr val="00E6C3">
              <a:alpha val="15000"/>
            </a:srgbClr>
          </a:solidFill>
          <a:ln w="6350">
            <a:solidFill>
              <a:srgbClr val="00E6C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91856" y="1033272"/>
            <a:ext cx="512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4步闭环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1463040"/>
            <a:ext cx="256032" cy="256032"/>
          </a:xfrm>
          <a:prstGeom prst="ellipse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463040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17830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19933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能量资产挂牌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78992" y="1627632"/>
            <a:ext cx="1682496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155448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1463040"/>
            <a:ext cx="256032" cy="256032"/>
          </a:xfrm>
          <a:prstGeom prst="ellipse">
            <a:avLst/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1463040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17830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19933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市场列表展示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90672" y="1627632"/>
            <a:ext cx="1682496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55448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463040"/>
            <a:ext cx="256032" cy="2560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463040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63440" y="17830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19933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余额完成交易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02352" y="1627632"/>
            <a:ext cx="1682496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155448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1463040"/>
            <a:ext cx="256032" cy="256032"/>
          </a:xfrm>
          <a:prstGeom prst="ellipse">
            <a:avLst/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1463040"/>
            <a:ext cx="256032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17830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19933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更新双方余额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2468880"/>
            <a:ext cx="5029200" cy="3474720"/>
          </a:xfrm>
          <a:prstGeom prst="roundRect">
            <a:avLst>
              <a:gd name="adj" fmla="val 2105"/>
            </a:avLst>
          </a:prstGeom>
          <a:solidFill>
            <a:srgbClr val="0E1424"/>
          </a:solidFill>
          <a:ln w="9525">
            <a:solidFill>
              <a:srgbClr val="F5379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2468880"/>
            <a:ext cx="502920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2551176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2551176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" y="255117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250545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localhost:5173/#/nft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919472" y="2514600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51460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2706624"/>
            <a:ext cx="5029200" cy="3236976"/>
          </a:xfrm>
          <a:prstGeom prst="rect">
            <a:avLst/>
          </a:prstGeom>
          <a:solidFill>
            <a:srgbClr val="070B1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7" name="Image 0" descr="E:\chain\docs\assets\screenshots\nf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706624"/>
            <a:ext cx="5029200" cy="3236976"/>
          </a:xfrm>
          <a:prstGeom prst="ellipse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5669280" y="2468880"/>
            <a:ext cx="3017520" cy="3474720"/>
          </a:xfrm>
          <a:prstGeom prst="roundRect">
            <a:avLst>
              <a:gd name="adj" fmla="val 2424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06440" y="257860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16168" y="2560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市场规则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8156448" y="258775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FCF4D">
              <a:alpha val="15000"/>
            </a:srgbClr>
          </a:solidFill>
          <a:ln w="6350">
            <a:solidFill>
              <a:srgbClr val="FFCF4D">
                <a:alpha val="4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156448" y="258775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5条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897880" y="3108960"/>
            <a:ext cx="54864" cy="54864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035040" y="30175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已上架资产显示 On Sale 标签，隐藏上架按钮防重复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897880" y="3611880"/>
            <a:ext cx="54864" cy="54864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035040" y="3520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购买/取消后同步刷新市场列表和钱包余额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5897880" y="4114800"/>
            <a:ext cx="54864" cy="54864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035040" y="40233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取消上架后资产返回钱包，可重新上架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5897880" y="4617720"/>
            <a:ext cx="54864" cy="54864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035040" y="4526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交易记录写入链上并同步到业务账本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5897880" y="5120640"/>
            <a:ext cx="54864" cy="54864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035040" y="50292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价格由卖家设定，用 GreenEnergy 计价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ERC20 钱包与证书勋章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Wallet &amp; Certificates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0E1424"/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914400"/>
            <a:ext cx="502920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996696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996696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99669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5097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localhost:5173/#/wallet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919472" y="960120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96012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152144"/>
            <a:ext cx="5029200" cy="4791456"/>
          </a:xfrm>
          <a:prstGeom prst="rect">
            <a:avLst/>
          </a:prstGeom>
          <a:solidFill>
            <a:srgbClr val="070B1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0" descr="E:\chain\docs\assets\screenshots\wall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52144"/>
            <a:ext cx="5029200" cy="4791456"/>
          </a:xfrm>
          <a:prstGeom prst="ellipse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59893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钱包页：代币余额 + 转账 + NFT 资产展示 + 能量发放记录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69280" y="914400"/>
            <a:ext cx="3017520" cy="5029200"/>
          </a:xfrm>
          <a:prstGeom prst="roundRect">
            <a:avLst>
              <a:gd name="adj" fmla="val 2424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06440" y="10241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16168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 vs 勋章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074152" y="1033272"/>
            <a:ext cx="429768" cy="201168"/>
          </a:xfrm>
          <a:prstGeom prst="roundRect">
            <a:avLst>
              <a:gd name="adj" fmla="val 18182"/>
            </a:avLst>
          </a:prstGeom>
          <a:solidFill>
            <a:srgbClr val="F5379B">
              <a:alpha val="15000"/>
            </a:srgbClr>
          </a:solidFill>
          <a:ln w="6350">
            <a:solidFill>
              <a:srgbClr val="F5379B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74152" y="1033272"/>
            <a:ext cx="429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37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06440" y="1371600"/>
            <a:ext cx="2743200" cy="274320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17804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证书/勋章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806440" y="1645920"/>
            <a:ext cx="2743200" cy="457200"/>
          </a:xfrm>
          <a:prstGeom prst="rect">
            <a:avLst/>
          </a:prstGeom>
          <a:solidFill>
            <a:srgbClr val="131B2E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52160" y="1645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代币标准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13232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37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ERC721 / ERC1155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806440" y="2103120"/>
            <a:ext cx="2743200" cy="457200"/>
          </a:xfrm>
          <a:prstGeom prst="rect">
            <a:avLst/>
          </a:prstGeom>
          <a:solidFill>
            <a:srgbClr val="1A2440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52160" y="2103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唯一性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13232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37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独一无二 / 可批量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806440" y="2560320"/>
            <a:ext cx="2743200" cy="457200"/>
          </a:xfrm>
          <a:prstGeom prst="rect">
            <a:avLst/>
          </a:prstGeom>
          <a:solidFill>
            <a:srgbClr val="131B2E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52160" y="2560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创建权限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13232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37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0xadmin / 联盟角色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806440" y="3017520"/>
            <a:ext cx="2743200" cy="457200"/>
          </a:xfrm>
          <a:prstGeom prst="rect">
            <a:avLst/>
          </a:prstGeom>
          <a:solidFill>
            <a:srgbClr val="1A2440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5216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图片要求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132320" y="3017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37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均需图片URL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67588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16168" y="3657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创建流程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156448" y="368503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56448" y="368503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5步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852160" y="4114800"/>
            <a:ext cx="228600" cy="228600"/>
          </a:xfrm>
          <a:prstGeom prst="ellipse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52160" y="41148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715000" y="43708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选类型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6080760" y="4279392"/>
            <a:ext cx="228600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291072" y="420624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82512" y="4114800"/>
            <a:ext cx="228600" cy="228600"/>
          </a:xfrm>
          <a:prstGeom prst="ellipse">
            <a:avLst/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382512" y="41148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245352" y="43708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填信息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611112" y="4279392"/>
            <a:ext cx="228600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821424" y="420624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912864" y="4114800"/>
            <a:ext cx="228600" cy="22860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12864" y="41148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6775704" y="43708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权限校验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7141464" y="4279392"/>
            <a:ext cx="228600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351776" y="420624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443216" y="4114800"/>
            <a:ext cx="228600" cy="228600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443216" y="41148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7306056" y="43708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链上mint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7671816" y="4279392"/>
            <a:ext cx="228600" cy="18288"/>
          </a:xfrm>
          <a:prstGeom prst="rect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882128" y="4206240"/>
            <a:ext cx="91440" cy="164592"/>
          </a:xfrm>
          <a:prstGeom prst="rightTriangle">
            <a:avLst/>
          </a:prstGeom>
          <a:solidFill>
            <a:srgbClr val="00E6C3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973568" y="4114800"/>
            <a:ext cx="228600" cy="228600"/>
          </a:xfrm>
          <a:prstGeom prst="ellipse">
            <a:avLst/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973568" y="41148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7836408" y="43708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钱包展示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5669280" y="5669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证书勋章创建后可在钱包查看，支持 NFT 市场挂牌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区块链浏览器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Explorer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5669280" cy="5029200"/>
          </a:xfrm>
          <a:prstGeom prst="roundRect">
            <a:avLst>
              <a:gd name="adj" fmla="val 1455"/>
            </a:avLst>
          </a:prstGeom>
          <a:solidFill>
            <a:srgbClr val="0E1424"/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914400"/>
            <a:ext cx="566928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996696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996696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99669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50976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localhost:5173/#/explorer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559552" y="960120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96012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152144"/>
            <a:ext cx="5669280" cy="4791456"/>
          </a:xfrm>
          <a:prstGeom prst="rect">
            <a:avLst/>
          </a:prstGeom>
          <a:solidFill>
            <a:srgbClr val="070B1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0" descr="E:\chain\docs\assets\screenshots\explor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52144"/>
            <a:ext cx="5669280" cy="4791456"/>
          </a:xfrm>
          <a:prstGeom prst="ellipse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59893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区块链浏览器：区块列表 / 交易详情 / 合约查询 / 地址余额追溯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309360" y="914400"/>
            <a:ext cx="2377440" cy="5029200"/>
          </a:xfrm>
          <a:prstGeom prst="roundRect">
            <a:avLst>
              <a:gd name="adj" fmla="val 3077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46520" y="10241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56248" y="1005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浏览器能力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56448" y="103327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00E6C3">
              <a:alpha val="15000"/>
            </a:srgbClr>
          </a:solidFill>
          <a:ln w="6350">
            <a:solidFill>
              <a:srgbClr val="00E6C3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56448" y="103327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4维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46520" y="1463040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4652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区块查询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4652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块高/哈希/时间/交易数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446520" y="2514600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4652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交易追溯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46520" y="2880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 hash / from / to / input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46520" y="3566160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652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合约状态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46520" y="3931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部署地址 / has_code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446520" y="4617720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46520" y="4709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地址余额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446520" y="49834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GreenEnergy 余额查询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成绩计算体系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Grade Calculation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4572000" cy="5029200"/>
          </a:xfrm>
          <a:prstGeom prst="roundRect">
            <a:avLst>
              <a:gd name="adj" fmla="val 1600"/>
            </a:avLst>
          </a:prstGeom>
          <a:solidFill>
            <a:srgbClr val="0E1424"/>
          </a:solidFill>
          <a:ln w="9525">
            <a:solidFill>
              <a:srgbClr val="F537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914400"/>
            <a:ext cx="457200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996696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996696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99669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50976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localhost:5173/#/my-grades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462272" y="960120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96012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152144"/>
            <a:ext cx="4572000" cy="4791456"/>
          </a:xfrm>
          <a:prstGeom prst="rect">
            <a:avLst/>
          </a:prstGeom>
          <a:solidFill>
            <a:srgbClr val="070B1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0" descr="E:\chain\docs\assets\screenshots\my-gra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52144"/>
            <a:ext cx="4572000" cy="4791456"/>
          </a:xfrm>
          <a:prstGeom prst="ellipse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5989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我的成绩：4维评分雷达 + 实训得分 + 教师评价 + 班级排名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212080" y="9144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1B2E"/>
          </a:solidFill>
          <a:ln w="6350">
            <a:solidFill>
              <a:srgbClr val="00E6C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49240" y="987552"/>
            <a:ext cx="3200400" cy="36576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4924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链搭建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680960" y="1033272"/>
            <a:ext cx="8229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229600" y="10789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34924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10步完成度/命令准确性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349240" y="1691640"/>
            <a:ext cx="3200400" cy="45720"/>
          </a:xfrm>
          <a:prstGeom prst="roundRect">
            <a:avLst>
              <a:gd name="adj" fmla="val 40000"/>
            </a:avLst>
          </a:prstGeom>
          <a:solidFill>
            <a:srgbClr val="1F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49240" y="1691640"/>
            <a:ext cx="3200400" cy="45720"/>
          </a:xfrm>
          <a:prstGeom prst="roundRect">
            <a:avLst>
              <a:gd name="adj" fmla="val 4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212080" y="201168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49240" y="2084832"/>
            <a:ext cx="3200400" cy="36576"/>
          </a:xfrm>
          <a:prstGeom prst="roundRect">
            <a:avLst>
              <a:gd name="adj" fmla="val 50000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4924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合约开发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680960" y="2130552"/>
            <a:ext cx="8229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229600" y="21762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IDE创建/编译/部署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349240" y="2788920"/>
            <a:ext cx="3200400" cy="45720"/>
          </a:xfrm>
          <a:prstGeom prst="roundRect">
            <a:avLst>
              <a:gd name="adj" fmla="val 40000"/>
            </a:avLst>
          </a:prstGeom>
          <a:solidFill>
            <a:srgbClr val="1F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349240" y="2788920"/>
            <a:ext cx="2667000" cy="45720"/>
          </a:xfrm>
          <a:prstGeom prst="roundRect">
            <a:avLst>
              <a:gd name="adj" fmla="val 40000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212080" y="31089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1B2E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49240" y="3182112"/>
            <a:ext cx="3200400" cy="36576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4924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链上验证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680960" y="3227832"/>
            <a:ext cx="8229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229600" y="32735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34924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能量发放/市场/证书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349240" y="3886200"/>
            <a:ext cx="3200400" cy="45720"/>
          </a:xfrm>
          <a:prstGeom prst="roundRect">
            <a:avLst>
              <a:gd name="adj" fmla="val 40000"/>
            </a:avLst>
          </a:prstGeom>
          <a:solidFill>
            <a:srgbClr val="1F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349240" y="3886200"/>
            <a:ext cx="2667000" cy="45720"/>
          </a:xfrm>
          <a:prstGeom prst="roundRect">
            <a:avLst>
              <a:gd name="adj" fmla="val 40000"/>
            </a:avLst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212080" y="42062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1B2E"/>
          </a:solidFill>
          <a:ln w="6350">
            <a:solidFill>
              <a:srgbClr val="F5379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349240" y="4279392"/>
            <a:ext cx="3200400" cy="36576"/>
          </a:xfrm>
          <a:prstGeom prst="roundRect">
            <a:avLst>
              <a:gd name="adj" fmla="val 50000"/>
            </a:avLst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4924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37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联盟治理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7680960" y="4325112"/>
            <a:ext cx="8229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8229600" y="43708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34924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角色切换/凭证填写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5349240" y="4983480"/>
            <a:ext cx="3200400" cy="45720"/>
          </a:xfrm>
          <a:prstGeom prst="roundRect">
            <a:avLst>
              <a:gd name="adj" fmla="val 40000"/>
            </a:avLst>
          </a:prstGeom>
          <a:solidFill>
            <a:srgbClr val="1F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349240" y="4983480"/>
            <a:ext cx="2133600" cy="45720"/>
          </a:xfrm>
          <a:prstGeom prst="roundRect">
            <a:avLst>
              <a:gd name="adj" fmla="val 40000"/>
            </a:avLst>
          </a:prstGeom>
          <a:solidFill>
            <a:srgbClr val="F537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212080" y="548640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00E6C3">
              <a:alpha val="12000"/>
            </a:srgbClr>
          </a:solidFill>
          <a:ln w="12700">
            <a:solidFill>
              <a:srgbClr val="00E6C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0352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train×0.6 + teacher×0.4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实训报告与等级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5029200" cy="5029200"/>
          </a:xfrm>
          <a:prstGeom prst="roundRect">
            <a:avLst>
              <a:gd name="adj" fmla="val 1455"/>
            </a:avLst>
          </a:prstGeom>
          <a:solidFill>
            <a:srgbClr val="0E1424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914400"/>
            <a:ext cx="5029200" cy="237744"/>
          </a:xfrm>
          <a:prstGeom prst="rect">
            <a:avLst/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996696"/>
            <a:ext cx="73152" cy="73152"/>
          </a:xfrm>
          <a:prstGeom prst="ellipse">
            <a:avLst/>
          </a:prstGeom>
          <a:solidFill>
            <a:srgbClr val="FF54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996696"/>
            <a:ext cx="73152" cy="73152"/>
          </a:xfrm>
          <a:prstGeom prst="ellipse">
            <a:avLst/>
          </a:prstGeom>
          <a:solidFill>
            <a:srgbClr val="FFCF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996696"/>
            <a:ext cx="73152" cy="7315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5097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localhost:5173/#/report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919472" y="960120"/>
            <a:ext cx="493776" cy="182880"/>
          </a:xfrm>
          <a:prstGeom prst="roundRect">
            <a:avLst>
              <a:gd name="adj" fmla="val 15000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96012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152144"/>
            <a:ext cx="5029200" cy="4791456"/>
          </a:xfrm>
          <a:prstGeom prst="rect">
            <a:avLst/>
          </a:prstGeom>
          <a:solidFill>
            <a:srgbClr val="070B1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0" descr="E:\chain\docs\assets\screenshots\re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52144"/>
            <a:ext cx="5029200" cy="4791456"/>
          </a:xfrm>
          <a:prstGeom prst="ellipse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59893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实训报告：成绩构成 + 等级评定 + 各维度明细 + 改进建议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669280" y="914400"/>
            <a:ext cx="3017520" cy="5029200"/>
          </a:xfrm>
          <a:prstGeom prst="roundRect">
            <a:avLst>
              <a:gd name="adj" fmla="val 2424"/>
            </a:avLst>
          </a:prstGeom>
          <a:solidFill>
            <a:srgbClr val="131B2E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06440" y="1024128"/>
            <a:ext cx="36576" cy="182880"/>
          </a:xfrm>
          <a:prstGeom prst="roundRect">
            <a:avLst>
              <a:gd name="adj" fmla="val 50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16168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等级划分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56448" y="1033272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56448" y="103327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5级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06440" y="14173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97880" y="1508760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2DD4BF">
              <a:alpha val="20000"/>
            </a:srgbClr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97880" y="15087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720840" y="1527048"/>
            <a:ext cx="868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90-100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897880" y="1801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全面掌握，独立完成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806440" y="2258568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6350">
            <a:solidFill>
              <a:srgbClr val="00E6C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97880" y="2350008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00E6C3">
              <a:alpha val="20000"/>
            </a:srgbClr>
          </a:solidFill>
          <a:ln w="9525">
            <a:solidFill>
              <a:srgbClr val="00E6C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97880" y="23500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720840" y="2368296"/>
            <a:ext cx="868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80-89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897880" y="2642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较好掌握，少量待完善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806440" y="3099816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897880" y="3191256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4D8DFF">
              <a:alpha val="20000"/>
            </a:srgbClr>
          </a:solidFill>
          <a:ln w="9525">
            <a:solidFill>
              <a:srgbClr val="4D8D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97880" y="319125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720840" y="3209544"/>
            <a:ext cx="868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70-79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897880" y="3483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基本掌握，部分需加强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941064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6350">
            <a:solidFill>
              <a:srgbClr val="FFCF4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897880" y="403250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FCF4D">
              <a:alpha val="20000"/>
            </a:srgbClr>
          </a:solidFill>
          <a:ln w="9525">
            <a:solidFill>
              <a:srgbClr val="FFCF4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897880" y="40325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F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及格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720840" y="4050792"/>
            <a:ext cx="868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60-69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897880" y="43251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完成基础，需练习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4782312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31B2E"/>
          </a:solidFill>
          <a:ln w="6350">
            <a:solidFill>
              <a:srgbClr val="FF547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97880" y="4873752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FF5470">
              <a:alpha val="20000"/>
            </a:srgbClr>
          </a:solidFill>
          <a:ln w="9525">
            <a:solidFill>
              <a:srgbClr val="FF547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97880" y="48737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5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不及格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720840" y="4892040"/>
            <a:ext cx="868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&lt;60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897880" y="5166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未完成核心，需重修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5720" cy="329184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38404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2286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9144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00584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00584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9875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教程步骤可以跳过吗？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146304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46304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14173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不可以，10步严格按顺序执行，每步完成才能进入下一步。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00584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0584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66360" y="9875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能量发放失败怎么办？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46304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66360" y="14173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检查业务凭证是否满足阈值，确认使用联盟角色钱包签名。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4688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256032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56032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25420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资产上架后能改价格吗？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01752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01752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2971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需先取消上架，改价格后重新上架。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4688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56032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6032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66360" y="25420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证书和勋章的区别？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01752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01752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297180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证书是ERC721唯一，勋章是ERC1155可批量，权限也不同。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023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11480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1148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" y="4096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成绩如何计算？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457200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5720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68680" y="45262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training_score × 0.6 + teacher_score × 0.4。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40233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31B2E"/>
          </a:solidFill>
          <a:ln w="6350">
            <a:solidFill>
              <a:srgbClr val="4D8D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411480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4D8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41148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6360" y="4096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8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如何切换联盟角色？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457200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57200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0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45262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在生态实践页点击角色卡片切换，每角色独立钱包。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F5379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1645920"/>
            <a:ext cx="1097280" cy="1097280"/>
          </a:xfrm>
          <a:prstGeom prst="hexagon">
            <a:avLst/>
          </a:prstGeom>
          <a:solidFill>
            <a:srgbClr val="00E6C3">
              <a:alpha val="12000"/>
            </a:srgbClr>
          </a:solidFill>
          <a:ln w="19050">
            <a:solidFill>
              <a:srgbClr val="00E6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0" y="1645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E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感谢使用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E6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4069080"/>
            <a:ext cx="2194560" cy="18288"/>
          </a:xfrm>
          <a:prstGeom prst="rect">
            <a:avLst/>
          </a:prstGeom>
          <a:solidFill>
            <a:srgbClr val="00E6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343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C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platform@fisco-chain.edu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120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 · 2026年8月 · 天择教育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9144000" cy="292608"/>
          </a:xfrm>
          <a:prstGeom prst="rect">
            <a:avLst/>
          </a:prstGeom>
          <a:solidFill>
            <a:srgbClr val="0E142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836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FISCO 联盟链实训平台 · 操作手册 v3.0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天择教育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FISCO 联盟链实训平台操作手册</dc:title>
  <dc:subject>实训平台操作手册</dc:subject>
  <dc:creator>FISCO 联盟链实训平台</dc:creator>
  <cp:lastModifiedBy>FISCO 联盟链实训平台</cp:lastModifiedBy>
  <cp:revision>1</cp:revision>
  <dcterms:created xsi:type="dcterms:W3CDTF">2026-08-25T08:34:10Z</dcterms:created>
  <dcterms:modified xsi:type="dcterms:W3CDTF">2026-08-25T08:34:10Z</dcterms:modified>
</cp:coreProperties>
</file>